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5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2" name="Google Shape;35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6DCD69-FF12-42D1-867D-A0D8DD6F14DB}"/>
              </a:ext>
            </a:extLst>
          </p:cNvPr>
          <p:cNvGrpSpPr/>
          <p:nvPr/>
        </p:nvGrpSpPr>
        <p:grpSpPr>
          <a:xfrm>
            <a:off x="9052560" y="3931920"/>
            <a:ext cx="4937760" cy="4937760"/>
            <a:chOff x="9052560" y="3931920"/>
            <a:chExt cx="4937760" cy="4937760"/>
          </a:xfrm>
        </p:grpSpPr>
        <p:sp>
          <p:nvSpPr>
            <p:cNvPr id="16" name="Google Shape;16;p3"/>
            <p:cNvSpPr/>
            <p:nvPr/>
          </p:nvSpPr>
          <p:spPr>
            <a:xfrm>
              <a:off x="9052560" y="3931920"/>
              <a:ext cx="4937760" cy="4937760"/>
            </a:xfrm>
            <a:prstGeom prst="ellipse">
              <a:avLst/>
            </a:prstGeom>
            <a:solidFill>
              <a:srgbClr val="141A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9829800" y="4709160"/>
              <a:ext cx="3383280" cy="3383280"/>
            </a:xfrm>
            <a:prstGeom prst="ellipse">
              <a:avLst/>
            </a:prstGeom>
            <a:noFill/>
            <a:ln w="19050" cap="flat" cmpd="sng">
              <a:solidFill>
                <a:srgbClr val="C9A2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3"/>
            <p:cNvSpPr/>
            <p:nvPr/>
          </p:nvSpPr>
          <p:spPr>
            <a:xfrm>
              <a:off x="10607040" y="5486400"/>
              <a:ext cx="1828800" cy="1828800"/>
            </a:xfrm>
            <a:prstGeom prst="ellipse">
              <a:avLst/>
            </a:prstGeom>
            <a:noFill/>
            <a:ln w="12700" cap="flat" cmpd="sng">
              <a:solidFill>
                <a:srgbClr val="C9A2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3"/>
          <p:cNvSpPr/>
          <p:nvPr/>
        </p:nvSpPr>
        <p:spPr>
          <a:xfrm>
            <a:off x="731520" y="2286000"/>
            <a:ext cx="8503920" cy="178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CORGRATIA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INTERNATIONAL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77240" y="3977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COMPANY PROFILE  &amp;  SERVICE OVERVIEW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77240" y="4800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Connecting Markets, Delivering Value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About CORGRATIA INTERNATIONAL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1655064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960120" y="1508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International trading and procurement company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960120" y="187452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350" b="0" i="0" u="none" strike="noStrike" cap="none" dirty="0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Active offices in Nigeria and Belgium, serving clients across three continents.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2935224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960120" y="27889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Diverse product </a:t>
            </a:r>
            <a:r>
              <a:rPr lang="en-US" sz="1600" b="1" i="0" u="none" strike="noStrike" cap="none" dirty="0" err="1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specialisation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60120" y="315468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35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Vehicles, food products, clothing &amp; textiles, and computer / IT products.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40080" y="4215384"/>
            <a:ext cx="128016" cy="128016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960120" y="40690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 bridge between continents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60120" y="4434840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35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Connecting Africa, Europe, and North America through reliable import and export solutions.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537960" y="1417320"/>
            <a:ext cx="5029200" cy="4754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452360" y="2057400"/>
            <a:ext cx="3200400" cy="3200400"/>
          </a:xfrm>
          <a:prstGeom prst="ellipse">
            <a:avLst/>
          </a:prstGeom>
          <a:noFill/>
          <a:ln w="15875" cap="flat" cmpd="sng">
            <a:solidFill>
              <a:srgbClr val="C9A2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229600" y="2834640"/>
            <a:ext cx="1645920" cy="1645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4" descr="/home/claude/corgratia/icons/globe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73998" y="3279038"/>
            <a:ext cx="757123" cy="75712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6675120" y="51206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AFRICA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235440" y="512064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EUROPE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772400" y="58064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NORTH AMERICA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Mission, Vision &amp; Values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40080" y="13716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0F1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914400" y="15361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914400" y="1828800"/>
            <a:ext cx="47091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To provide reliable, efficient, and value-driven trading, procurement, distribution, import and export solutions, connecting customers with quality products and trusted opportunities.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263640" y="137160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537960" y="15361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537960" y="1828800"/>
            <a:ext cx="47091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be a trusted international trading and procurement leader, recognised for reliability, quality, professionalism, and sustainable partnerships across Africa, Europe, and beyond.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CORE VALUES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0080" y="379476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0F1F6"/>
          </a:solidFill>
          <a:ln w="9525" cap="flat" cmpd="sng">
            <a:solidFill>
              <a:srgbClr val="DADF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749808" y="390448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731520" y="409651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Integrity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907792" y="379476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0F1F6"/>
          </a:solidFill>
          <a:ln w="9525" cap="flat" cmpd="sng">
            <a:solidFill>
              <a:srgbClr val="DADF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3017520" y="390448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2999232" y="409651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175504" y="379476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0F1F6"/>
          </a:solidFill>
          <a:ln w="9525" cap="flat" cmpd="sng">
            <a:solidFill>
              <a:srgbClr val="DADF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285232" y="390448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266944" y="409651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Professionalism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443216" y="379476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0F1F6"/>
          </a:solidFill>
          <a:ln w="9525" cap="flat" cmpd="sng">
            <a:solidFill>
              <a:srgbClr val="DADF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552944" y="390448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7534656" y="409651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Quality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710928" y="379476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0F1F6"/>
          </a:solidFill>
          <a:ln w="9525" cap="flat" cmpd="sng">
            <a:solidFill>
              <a:srgbClr val="DADF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9820656" y="3904488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9802368" y="4096512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Customer Satisfaction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40080" y="4828032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0F1F6"/>
          </a:solidFill>
          <a:ln w="9525" cap="flat" cmpd="sng">
            <a:solidFill>
              <a:srgbClr val="DADF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749808" y="49377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731520" y="5129784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Transparency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2907792" y="4828032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0F1F6"/>
          </a:solidFill>
          <a:ln w="9525" cap="flat" cmpd="sng">
            <a:solidFill>
              <a:srgbClr val="DADF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017520" y="49377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2999232" y="5129784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Accountability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175504" y="4828032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0F1F6"/>
          </a:solidFill>
          <a:ln w="9525" cap="flat" cmpd="sng">
            <a:solidFill>
              <a:srgbClr val="DADF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5285232" y="49377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266944" y="5129784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Innovation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7443216" y="4828032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0F1F6"/>
          </a:solidFill>
          <a:ln w="9525" cap="flat" cmpd="sng">
            <a:solidFill>
              <a:srgbClr val="DADF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7552944" y="49377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534656" y="5129784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710928" y="4828032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F0F1F6"/>
          </a:solidFill>
          <a:ln w="9525" cap="flat" cmpd="sng">
            <a:solidFill>
              <a:srgbClr val="DADF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9820656" y="4937760"/>
            <a:ext cx="146304" cy="146304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9802368" y="5129784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International Collaboration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Our Core Business Activities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40080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0F1F6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896112" y="167335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7" name="Google Shape;97;p6" descr="/home/claude/corgratia/icons/car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4245" y="1821485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6"/>
          <p:cNvSpPr/>
          <p:nvPr/>
        </p:nvSpPr>
        <p:spPr>
          <a:xfrm>
            <a:off x="1600200" y="169164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Vehicles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96112" y="237744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Sales, import, export, and delivery of vehicles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416552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4672584" y="167335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" name="Google Shape;102;p6" descr="/home/claude/corgratia/icons/seedling_gol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20717" y="1821485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5376672" y="169164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Food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672584" y="237744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Sales and distribution of food products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193024" y="14173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0F1F6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449056" y="1673352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" name="Google Shape;107;p6" descr="/home/claude/corgratia/icons/tshirt_gol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97189" y="1821485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6"/>
          <p:cNvSpPr/>
          <p:nvPr/>
        </p:nvSpPr>
        <p:spPr>
          <a:xfrm>
            <a:off x="9153144" y="169164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Textiles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8449056" y="237744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Sales of clothing materials and textile products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40080" y="363931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896112" y="3895344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6" descr="/home/claude/corgratia/icons/laptop_gol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4245" y="4043477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1600200" y="3913632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Computer &amp; IT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96112" y="4599432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Sales and distribution of computer and IT products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416552" y="363931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0F1F6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672584" y="3895344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7" name="Google Shape;117;p6" descr="/home/claude/corgratia/icons/search_gol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20717" y="4043477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5376672" y="3913632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Procurement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672584" y="4599432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Procurement, sourcing, and international trade support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193024" y="363931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8449056" y="3895344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6" descr="/home/claude/corgratia/icons/ship_gol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97189" y="4043477"/>
            <a:ext cx="252374" cy="2523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6"/>
          <p:cNvSpPr/>
          <p:nvPr/>
        </p:nvSpPr>
        <p:spPr>
          <a:xfrm>
            <a:off x="9153144" y="3913632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Logistics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449056" y="4599432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Distribution, logistics, and delivery coordination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Vehicles – Import, Export &amp; Supply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40080" y="1655064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914400" y="1490472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Sourcing and purchase of new and pre-owned vehicles from trusted international dealers.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40080" y="2523744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914400" y="2359152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Importation and exportation of vehicles into Nigeria and other African markets.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0080" y="3392424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914400" y="3227832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Sales to individuals, fleet owners, dealers, and corporate clients.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40080" y="4261104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914400" y="4096512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Cross-border logistics, shipping, and documentation support.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40080" y="5129784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914400" y="4965192"/>
            <a:ext cx="53035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Door-to-door delivery coordination where required.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537960" y="1371600"/>
            <a:ext cx="5029200" cy="4800600"/>
          </a:xfrm>
          <a:prstGeom prst="rect">
            <a:avLst/>
          </a:prstGeom>
          <a:solidFill>
            <a:srgbClr val="F0F1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366760" y="2926080"/>
            <a:ext cx="1371600" cy="137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4" name="Google Shape;144;p7" descr="/home/claude/corgratia/icons/car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7092" y="329641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6766560" y="46177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Vehicle Trade &amp; Logistics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766560" y="4983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Individuals · Fleet Owners · Dealers · Corporate Clients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Food Products – Supplying the Diaspora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40080" y="1371600"/>
            <a:ext cx="5029200" cy="4800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2468880" y="2926080"/>
            <a:ext cx="1371600" cy="13716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6" name="Google Shape;156;p8" descr="/home/claude/corgratia/icons/seedling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9212" y="329641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868680" y="46177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Nigeria to the World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68680" y="4983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UK · Canada · Belgium · and other markets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126480" y="1609344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6400800" y="1444752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Export of approved food and agro-products from Nigeria to the UK, Canada, Belgium, and other markets.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6126480" y="2542032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6400800" y="237744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Supply to retailers, wholesalers, restaurants, and African food stores.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126480" y="3474720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6400800" y="3310128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Sourcing of quality, well-packaged food items that meet international standards.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6126480" y="4407408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400800" y="4242816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Coordination of shipping, customs, and last-mile delivery.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6126480" y="5340096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400800" y="5175504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Compliance with food-safety, labelling, and import regulations in destination countries.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Clothing Materials &amp; Textile Products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0080" y="1463040"/>
            <a:ext cx="108813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960120" y="187452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960120" y="1874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1691640" y="1856232"/>
            <a:ext cx="9509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Sales of clothing materials, fabrics, and textile products.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960120" y="283464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960120" y="2834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691640" y="2816352"/>
            <a:ext cx="9509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Sourcing and procurement for fashion designers, tailors, boutiques, and manufacturers.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960120" y="379476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960120" y="3794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1691640" y="3776472"/>
            <a:ext cx="9509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Wholesale and retail distribution in local and international markets.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960120" y="475488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960120" y="4754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691640" y="4736592"/>
            <a:ext cx="95097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Importation and exportation of textile products for fashion and industrial use.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Computer &amp; IT Products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640080" y="1655064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914400" y="1490472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Sales of laptops, desktops, and computer accessories.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640080" y="2523744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914400" y="2359152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Supply of IT hardware and peripherals to individuals, SMEs, and institutions.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640080" y="3392424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914400" y="3227832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B2B procurement of technology products for corporate clients.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40080" y="4261104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914400" y="4096512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Import and export of computer equipment and related products.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40080" y="5129784"/>
            <a:ext cx="109728" cy="109728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914400" y="4965192"/>
            <a:ext cx="5303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Support for African and diaspora clients who need reliable ICT sourcing from Europe.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6537960" y="1371600"/>
            <a:ext cx="5029200" cy="4800600"/>
          </a:xfrm>
          <a:prstGeom prst="rect">
            <a:avLst/>
          </a:prstGeom>
          <a:solidFill>
            <a:srgbClr val="F0F1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8366760" y="2926080"/>
            <a:ext cx="1371600" cy="13716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8" name="Google Shape;208;p10" descr="/home/claude/corgratia/icons/laptop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37092" y="3296412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/>
          <p:nvPr/>
        </p:nvSpPr>
        <p:spPr>
          <a:xfrm>
            <a:off x="6766560" y="46177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ICT Sourcing &amp; Supply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766560" y="49834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Individuals · SMEs · Institutions · Corporate Clients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Procurement &amp; Sourcing Solutions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1348740" y="182880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1348740" y="1828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4864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Identify &amp; Source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594360" y="320040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CE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7DCEF"/>
                </a:solidFill>
                <a:latin typeface="Calibri"/>
                <a:ea typeface="Calibri"/>
                <a:cs typeface="Calibri"/>
                <a:sym typeface="Calibri"/>
              </a:rPr>
              <a:t>Identify and source products from reliable suppliers in local and international markets.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1"/>
          <p:cNvCxnSpPr/>
          <p:nvPr/>
        </p:nvCxnSpPr>
        <p:spPr>
          <a:xfrm>
            <a:off x="2715768" y="2148840"/>
            <a:ext cx="109728" cy="0"/>
          </a:xfrm>
          <a:prstGeom prst="straightConnector1">
            <a:avLst/>
          </a:prstGeom>
          <a:noFill/>
          <a:ln w="12700" cap="flat" cmpd="sng">
            <a:solidFill>
              <a:srgbClr val="C9A2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3" name="Google Shape;223;p11"/>
          <p:cNvSpPr/>
          <p:nvPr/>
        </p:nvSpPr>
        <p:spPr>
          <a:xfrm>
            <a:off x="3543300" y="182880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3543300" y="1828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274320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2788920" y="320040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CE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7DCEF"/>
                </a:solidFill>
                <a:latin typeface="Calibri"/>
                <a:ea typeface="Calibri"/>
                <a:cs typeface="Calibri"/>
                <a:sym typeface="Calibri"/>
              </a:rPr>
              <a:t>Compare quality, specifications, and pricing to match client requirements.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1"/>
          <p:cNvCxnSpPr/>
          <p:nvPr/>
        </p:nvCxnSpPr>
        <p:spPr>
          <a:xfrm>
            <a:off x="4910328" y="2148840"/>
            <a:ext cx="109728" cy="0"/>
          </a:xfrm>
          <a:prstGeom prst="straightConnector1">
            <a:avLst/>
          </a:prstGeom>
          <a:noFill/>
          <a:ln w="12700" cap="flat" cmpd="sng">
            <a:solidFill>
              <a:srgbClr val="C9A2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8" name="Google Shape;228;p11"/>
          <p:cNvSpPr/>
          <p:nvPr/>
        </p:nvSpPr>
        <p:spPr>
          <a:xfrm>
            <a:off x="5737860" y="182880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5737860" y="1828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93776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Negotiate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983480" y="320040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CE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7DCEF"/>
                </a:solidFill>
                <a:latin typeface="Calibri"/>
                <a:ea typeface="Calibri"/>
                <a:cs typeface="Calibri"/>
                <a:sym typeface="Calibri"/>
              </a:rPr>
              <a:t>Manage negotiations, purchase orders, and supplier communication.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11"/>
          <p:cNvCxnSpPr/>
          <p:nvPr/>
        </p:nvCxnSpPr>
        <p:spPr>
          <a:xfrm>
            <a:off x="7104888" y="2148840"/>
            <a:ext cx="109728" cy="0"/>
          </a:xfrm>
          <a:prstGeom prst="straightConnector1">
            <a:avLst/>
          </a:prstGeom>
          <a:noFill/>
          <a:ln w="12700" cap="flat" cmpd="sng">
            <a:solidFill>
              <a:srgbClr val="C9A2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p11"/>
          <p:cNvSpPr/>
          <p:nvPr/>
        </p:nvSpPr>
        <p:spPr>
          <a:xfrm>
            <a:off x="7932420" y="182880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7932420" y="1828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713232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Inspect &amp; Ship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7178040" y="320040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CE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7DCEF"/>
                </a:solidFill>
                <a:latin typeface="Calibri"/>
                <a:ea typeface="Calibri"/>
                <a:cs typeface="Calibri"/>
                <a:sym typeface="Calibri"/>
              </a:rPr>
              <a:t>Coordinate inspection, consolidation, and shipment.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11"/>
          <p:cNvCxnSpPr/>
          <p:nvPr/>
        </p:nvCxnSpPr>
        <p:spPr>
          <a:xfrm>
            <a:off x="9299448" y="2148840"/>
            <a:ext cx="109728" cy="0"/>
          </a:xfrm>
          <a:prstGeom prst="straightConnector1">
            <a:avLst/>
          </a:prstGeom>
          <a:noFill/>
          <a:ln w="12700" cap="flat" cmpd="sng">
            <a:solidFill>
              <a:srgbClr val="C9A2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" name="Google Shape;238;p11"/>
          <p:cNvSpPr/>
          <p:nvPr/>
        </p:nvSpPr>
        <p:spPr>
          <a:xfrm>
            <a:off x="10126980" y="182880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10126980" y="1828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9326880" y="269748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50"/>
              <a:buFont typeface="Calibri"/>
              <a:buNone/>
            </a:pPr>
            <a:r>
              <a:rPr lang="en-US" sz="1250" b="1" i="0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Track &amp; Support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9372600" y="320040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DCE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D7DCEF"/>
                </a:solidFill>
                <a:latin typeface="Calibri"/>
                <a:ea typeface="Calibri"/>
                <a:cs typeface="Calibri"/>
                <a:sym typeface="Calibri"/>
              </a:rPr>
              <a:t>Provide order-tracking, reporting, and after-sales support.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C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AA3C9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Import, Export &amp; Logistics Coordination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40080" y="1691640"/>
            <a:ext cx="594360" cy="594360"/>
          </a:xfrm>
          <a:prstGeom prst="ellipse">
            <a:avLst/>
          </a:prstGeom>
          <a:solidFill>
            <a:srgbClr val="F0F1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0" name="Google Shape;250;p12" descr="/home/claude/corgratia/icons/ship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557" y="1852117"/>
            <a:ext cx="273406" cy="27340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2"/>
          <p:cNvSpPr/>
          <p:nvPr/>
        </p:nvSpPr>
        <p:spPr>
          <a:xfrm>
            <a:off x="1463040" y="169164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Handle end-to-end coordination of shipments by sea, air, and road.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40080" y="2606040"/>
            <a:ext cx="594360" cy="594360"/>
          </a:xfrm>
          <a:prstGeom prst="ellipse">
            <a:avLst/>
          </a:prstGeom>
          <a:solidFill>
            <a:srgbClr val="F0F1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3" name="Google Shape;253;p12" descr="/home/claude/corgratia/icons/filesign_nav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557" y="2766517"/>
            <a:ext cx="273406" cy="27340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2"/>
          <p:cNvSpPr/>
          <p:nvPr/>
        </p:nvSpPr>
        <p:spPr>
          <a:xfrm>
            <a:off x="1463040" y="260604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Assist with customs documentation and regulatory compliance.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640080" y="3520440"/>
            <a:ext cx="594360" cy="594360"/>
          </a:xfrm>
          <a:prstGeom prst="ellipse">
            <a:avLst/>
          </a:prstGeom>
          <a:solidFill>
            <a:srgbClr val="F0F1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6" name="Google Shape;256;p12" descr="/home/claude/corgratia/icons/handshake_nav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557" y="3680917"/>
            <a:ext cx="273406" cy="273406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2"/>
          <p:cNvSpPr/>
          <p:nvPr/>
        </p:nvSpPr>
        <p:spPr>
          <a:xfrm>
            <a:off x="1463040" y="352044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Liaise between suppliers, shipping lines, and final customers.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40080" y="4434840"/>
            <a:ext cx="594360" cy="594360"/>
          </a:xfrm>
          <a:prstGeom prst="ellipse">
            <a:avLst/>
          </a:prstGeom>
          <a:solidFill>
            <a:srgbClr val="F0F1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12" descr="/home/claude/corgratia/icons/box_navy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557" y="4595317"/>
            <a:ext cx="273406" cy="27340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/>
          <p:nvPr/>
        </p:nvSpPr>
        <p:spPr>
          <a:xfrm>
            <a:off x="1463040" y="4434840"/>
            <a:ext cx="93268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Manage distribution, storage, and last-mile delivery when required.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40080" y="5486400"/>
            <a:ext cx="6035040" cy="594360"/>
          </a:xfrm>
          <a:prstGeom prst="roundRect">
            <a:avLst>
              <a:gd name="adj" fmla="val 9231"/>
            </a:avLst>
          </a:prstGeom>
          <a:solidFill>
            <a:srgbClr val="F0F1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868680" y="5486400"/>
            <a:ext cx="55778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1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Sea  ·  Air  ·  Road — coordinated end to end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Our Target Markets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640080" y="146304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F0F1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2" name="Google Shape;272;p13" descr="/home/claude/corgratia/icons/user_gol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0188" y="1873148"/>
            <a:ext cx="231343" cy="23134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3"/>
          <p:cNvSpPr/>
          <p:nvPr/>
        </p:nvSpPr>
        <p:spPr>
          <a:xfrm>
            <a:off x="1554480" y="1755648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Individuals &amp; Retail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960120" y="2569464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1188720" y="2386584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Private vehicle buyers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960120" y="3346704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1188720" y="3163824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Individual buyers of food, textiles, and IT products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960120" y="4123944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1188720" y="3941064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Retail shops and online sellers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6263640" y="146304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2" name="Google Shape;282;p13" descr="/home/claude/corgratia/icons/building_nav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73748" y="1873148"/>
            <a:ext cx="231343" cy="231343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3"/>
          <p:cNvSpPr/>
          <p:nvPr/>
        </p:nvSpPr>
        <p:spPr>
          <a:xfrm>
            <a:off x="7178040" y="1755648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&amp; Institutional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6583680" y="2523744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6812280" y="234086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BF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9EBF6"/>
                </a:solidFill>
                <a:latin typeface="Calibri"/>
                <a:ea typeface="Calibri"/>
                <a:cs typeface="Calibri"/>
                <a:sym typeface="Calibri"/>
              </a:rPr>
              <a:t>Vehicle dealers &amp; fleet operators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6583680" y="3163824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812280" y="298094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BF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9EBF6"/>
                </a:solidFill>
                <a:latin typeface="Calibri"/>
                <a:ea typeface="Calibri"/>
                <a:cs typeface="Calibri"/>
                <a:sym typeface="Calibri"/>
              </a:rPr>
              <a:t>Food retailers, wholesalers &amp; restaurants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6583680" y="3803904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6812280" y="362102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BF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9EBF6"/>
                </a:solidFill>
                <a:latin typeface="Calibri"/>
                <a:ea typeface="Calibri"/>
                <a:cs typeface="Calibri"/>
                <a:sym typeface="Calibri"/>
              </a:rPr>
              <a:t>Fashion designers &amp; clothing manufacturers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6583680" y="4443984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"/>
          <p:cNvSpPr/>
          <p:nvPr/>
        </p:nvSpPr>
        <p:spPr>
          <a:xfrm>
            <a:off x="6812280" y="426110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BF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9EBF6"/>
                </a:solidFill>
                <a:latin typeface="Calibri"/>
                <a:ea typeface="Calibri"/>
                <a:cs typeface="Calibri"/>
                <a:sym typeface="Calibri"/>
              </a:rPr>
              <a:t>IT resellers, schools &amp; organisations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6583680" y="5084064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6812280" y="4901184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9EBF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9EBF6"/>
                </a:solidFill>
                <a:latin typeface="Calibri"/>
                <a:ea typeface="Calibri"/>
                <a:cs typeface="Calibri"/>
                <a:sym typeface="Calibri"/>
              </a:rPr>
              <a:t>International buyers and diaspora communities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Why Choose Us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640080" y="16002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1371600" y="1600200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F0F1F6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1645920" y="1600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Strong presence in both African and European markets.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640080" y="2532888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640080" y="253288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1371600" y="2532888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4"/>
          <p:cNvSpPr/>
          <p:nvPr/>
        </p:nvSpPr>
        <p:spPr>
          <a:xfrm>
            <a:off x="1645920" y="2532888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Reliable sourcing from vetted suppliers and partners.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640080" y="3465576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4"/>
          <p:cNvSpPr/>
          <p:nvPr/>
        </p:nvSpPr>
        <p:spPr>
          <a:xfrm>
            <a:off x="640080" y="34655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1371600" y="3465576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F0F1F6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4"/>
          <p:cNvSpPr/>
          <p:nvPr/>
        </p:nvSpPr>
        <p:spPr>
          <a:xfrm>
            <a:off x="1645920" y="3465576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Compliance with international quality, safety, and regulatory standards.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640080" y="4398264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640080" y="439826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1371600" y="4398264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1645920" y="4398264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Flexible models: retail, wholesale, B2B, and custom procurement.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640080" y="5330952"/>
            <a:ext cx="548640" cy="5486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640080" y="53309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1371600" y="5330952"/>
            <a:ext cx="10149840" cy="777240"/>
          </a:xfrm>
          <a:prstGeom prst="roundRect">
            <a:avLst>
              <a:gd name="adj" fmla="val 7059"/>
            </a:avLst>
          </a:prstGeom>
          <a:solidFill>
            <a:srgbClr val="F0F1F6"/>
          </a:solidFill>
          <a:ln w="12700" cap="flat" cmpd="sng">
            <a:solidFill>
              <a:srgbClr val="E4E6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4"/>
          <p:cNvSpPr/>
          <p:nvPr/>
        </p:nvSpPr>
        <p:spPr>
          <a:xfrm>
            <a:off x="1645920" y="5330952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Customer-centric approach focused on long-term relationships.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"/>
          <p:cNvSpPr/>
          <p:nvPr/>
        </p:nvSpPr>
        <p:spPr>
          <a:xfrm>
            <a:off x="640080" y="45720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Leadership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640080" y="1417320"/>
            <a:ext cx="3291840" cy="475488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1417320" y="1783080"/>
            <a:ext cx="1737360" cy="173736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1417320" y="1783080"/>
            <a:ext cx="173736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5"/>
          <p:cNvSpPr/>
          <p:nvPr/>
        </p:nvSpPr>
        <p:spPr>
          <a:xfrm>
            <a:off x="822960" y="3703320"/>
            <a:ext cx="29260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Ayoade Adefarakan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822960" y="416052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Founder &amp; Chief Executive Officer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822960" y="47091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English · French · Russian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15"/>
          <p:cNvCxnSpPr/>
          <p:nvPr/>
        </p:nvCxnSpPr>
        <p:spPr>
          <a:xfrm>
            <a:off x="1188720" y="5166360"/>
            <a:ext cx="2194560" cy="0"/>
          </a:xfrm>
          <a:prstGeom prst="straightConnector1">
            <a:avLst/>
          </a:prstGeom>
          <a:noFill/>
          <a:ln w="9525" cap="flat" cmpd="sng">
            <a:solidFill>
              <a:srgbClr val="C9A22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5" name="Google Shape;335;p15"/>
          <p:cNvSpPr/>
          <p:nvPr/>
        </p:nvSpPr>
        <p:spPr>
          <a:xfrm>
            <a:off x="868680" y="530352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C9D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9C9D6"/>
                </a:solidFill>
                <a:latin typeface="Calibri"/>
                <a:ea typeface="Calibri"/>
                <a:cs typeface="Calibri"/>
                <a:sym typeface="Calibri"/>
              </a:rPr>
              <a:t>B.A. Political Science, Concordia University · Intensive Russian Programme, Northern State Medical University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206240" y="1508760"/>
            <a:ext cx="73152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 versatile, results-driven business leader with extensive experience in international market research, sales, operations, and technology-product distribution — leading CORGRATIA INTERNATIONAL's strategy, trade, procurement, and operational growth across Canada, Nigeria, and Belgium since 2011.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4206240" y="2697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CAREER HIGHLIGHTS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4206240" y="3118104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4434840" y="2953512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Manager, Red Cross Belgium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434840" y="3246120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2022–2025 — Coordinated resettlement and integration support for war-displaced Ukrainian migrants.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4206240" y="3867912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4434840" y="3703320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Research Analyst, Shell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434840" y="3995928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2012–2015 — Market research and analysis across Canada, Russia, Nigeria, the UK, Germany, and the Netherlands.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206240" y="4617720"/>
            <a:ext cx="91440" cy="914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4434840" y="4453128"/>
            <a:ext cx="7040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Sales Manager &amp; Consultant, Imperial Oil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4434840" y="4745736"/>
            <a:ext cx="7040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Calgary, Canada — Commercial and customer-engagement experience.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4206240" y="5440680"/>
            <a:ext cx="7040880" cy="777240"/>
          </a:xfrm>
          <a:prstGeom prst="roundRect">
            <a:avLst>
              <a:gd name="adj" fmla="val 7059"/>
            </a:avLst>
          </a:prstGeom>
          <a:solidFill>
            <a:srgbClr val="F0F1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4434840" y="5440680"/>
            <a:ext cx="658368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mbria"/>
              <a:buNone/>
            </a:pPr>
            <a:r>
              <a:rPr lang="en-US" sz="1250" b="0" i="1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“Connecting Markets, Delivering Value, Building Global Partnerships.”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A8A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8A8A8A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noFill/>
          <a:ln w="12700" cap="flat" cmpd="sng">
            <a:solidFill>
              <a:srgbClr val="C9A2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noFill/>
          <a:ln w="12700" cap="flat" cmpd="sng">
            <a:solidFill>
              <a:srgbClr val="C9A2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Our Commitment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914400" y="2788920"/>
            <a:ext cx="96012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9EBF6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E9EBF6"/>
                </a:solidFill>
                <a:latin typeface="Calibri"/>
                <a:ea typeface="Calibri"/>
                <a:cs typeface="Calibri"/>
                <a:sym typeface="Calibri"/>
              </a:rPr>
              <a:t>We are committed to delivering dependable products and services, maintaining transparent and ethical business practices, and supporting our customers with efficient, end-to-end trade solutions. We continually refine our processes to ensure quality, timeliness, and value in every transaction.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AA3C9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9AA3C9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"/>
          <p:cNvSpPr/>
          <p:nvPr/>
        </p:nvSpPr>
        <p:spPr>
          <a:xfrm>
            <a:off x="640080" y="502920"/>
            <a:ext cx="9601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Contact CORGRATIA INTERNATIONAL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640080" y="169164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141A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8" name="Google Shape;368;p17" descr="/home/claude/corgratia/icons/pin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7844" y="208940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7"/>
          <p:cNvSpPr/>
          <p:nvPr/>
        </p:nvSpPr>
        <p:spPr>
          <a:xfrm>
            <a:off x="1508760" y="19842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Nigeria Office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914400" y="2606040"/>
            <a:ext cx="4480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DCE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7DCEF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DCE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7DCEF"/>
                </a:solidFill>
                <a:latin typeface="Calibri"/>
                <a:ea typeface="Calibri"/>
                <a:cs typeface="Calibri"/>
                <a:sym typeface="Calibri"/>
              </a:rPr>
              <a:t>69, Okunola Street, Gowon Estate,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DCE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7DCEF"/>
                </a:solidFill>
                <a:latin typeface="Calibri"/>
                <a:ea typeface="Calibri"/>
                <a:cs typeface="Calibri"/>
                <a:sym typeface="Calibri"/>
              </a:rPr>
              <a:t>Akowonjo, Lagos, Nigeria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914400" y="370332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info@corgratiainternational.com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914400" y="402336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A227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9A227"/>
                </a:solidFill>
                <a:latin typeface="Calibri"/>
                <a:ea typeface="Calibri"/>
                <a:cs typeface="Calibri"/>
                <a:sym typeface="Calibri"/>
              </a:rPr>
              <a:t>corgratiainternational.com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6309360" y="1691640"/>
            <a:ext cx="5120640" cy="3200400"/>
          </a:xfrm>
          <a:prstGeom prst="roundRect">
            <a:avLst>
              <a:gd name="adj" fmla="val 2286"/>
            </a:avLst>
          </a:prstGeom>
          <a:solidFill>
            <a:srgbClr val="141A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6583680" y="196596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17" descr="/home/claude/corgratia/icons/pin_nav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07124" y="2089404"/>
            <a:ext cx="210312" cy="210312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7"/>
          <p:cNvSpPr/>
          <p:nvPr/>
        </p:nvSpPr>
        <p:spPr>
          <a:xfrm>
            <a:off x="7178040" y="19842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Belgium Office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6583680" y="2606040"/>
            <a:ext cx="448056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DCE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7DCEF"/>
                </a:solidFill>
                <a:latin typeface="Calibri"/>
                <a:ea typeface="Calibri"/>
                <a:cs typeface="Calibri"/>
                <a:sym typeface="Calibri"/>
              </a:rPr>
              <a:t>CORGRATIA INTERNATIONAL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DCE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7DCEF"/>
                </a:solidFill>
                <a:latin typeface="Calibri"/>
                <a:ea typeface="Calibri"/>
                <a:cs typeface="Calibri"/>
                <a:sym typeface="Calibri"/>
              </a:rPr>
              <a:t>Rue Picard 68, Molenbeek,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7DCE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D7DCEF"/>
                </a:solidFill>
                <a:latin typeface="Calibri"/>
                <a:ea typeface="Calibri"/>
                <a:cs typeface="Calibri"/>
                <a:sym typeface="Calibri"/>
              </a:rPr>
              <a:t>1080 Brussels, Belgium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640080" y="516636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C9A22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822960" y="5166360"/>
            <a:ext cx="1042416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mbria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For enquiries, partnerships, and orders, contact us today.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Microsoft Office PowerPoint</Application>
  <PresentationFormat>Widescreen</PresentationFormat>
  <Paragraphs>177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Agbalaya</dc:creator>
  <cp:lastModifiedBy>Adam Agbalaya</cp:lastModifiedBy>
  <cp:revision>2</cp:revision>
  <dcterms:modified xsi:type="dcterms:W3CDTF">2026-08-14T17:18:53Z</dcterms:modified>
</cp:coreProperties>
</file>